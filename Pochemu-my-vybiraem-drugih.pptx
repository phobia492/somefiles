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 ExtraBold"/>
      <p:regular r:id="rId201315"/>
    </p:embeddedFont>
    <p:embeddedFont>
      <p:font typeface="Noto Sans"/>
      <p:regular r:id="rId201316"/>
    </p:embeddedFont>
    <p:embeddedFont>
      <p:font typeface="Noto Sans Semi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Открыть презентацию на заглавном слайде. Назвать тему: мы говорим о том, что толкает человека сделать шаг навстречу другому, когда проще было бы остаться в стороне.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 по четырем опорам: от прямого сопереживания и внутреннего кодекса до чувства общности и стремления наполнить жизнь весомым смыслом.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 ключевую мысль: среда и детские трудности задают начальные векторы, но зрелая просоциальность вырастает из осознанного пересмотра этих сценариев.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Пояснить парадокс отказа от комфорта: человек жертвует сиюминутным удобством не ради мученичества, а ради сохранения самоуважения и целостности своего «я».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Завершить выступление лаконичным выводом и пригласить аудиторию к диалогу и вопросам.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502323"/>
            <a:ext cx="10972526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800" spc="-88" kern="0" dirty="0">
                <a:solidFill>
                  <a:srgbClr val="EFE7D8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Почему мы выбираем других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609585" y="6050359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D9B47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ЭТИКА ПОСТУПКА · МОТИВЫ · ЛИЧНЫЕ ГРАНИЦЫ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600" b="1" spc="-18" kern="0" dirty="0">
                <a:solidFill>
                  <a:srgbClr val="EFE7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Чем руководствуется человек, выбирая других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848346"/>
            <a:ext cx="698483" cy="698500"/>
          </a:xfrm>
          <a:prstGeom prst="ellipse">
            <a:avLst/>
          </a:prstGeom>
          <a:noFill/>
          <a:ln w="25399">
            <a:solidFill>
              <a:srgbClr val="BF9A6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5" y="2035671"/>
            <a:ext cx="323842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696071"/>
            <a:ext cx="2514537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FE7D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Сочувствие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09585" y="3245346"/>
            <a:ext cx="2514537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FE7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«Я чувствую, что с тобой происходит». Прямой эмоциональный отклик на чужое состояние без рационального расчета.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428914" y="1848346"/>
            <a:ext cx="698483" cy="698500"/>
          </a:xfrm>
          <a:prstGeom prst="ellipse">
            <a:avLst/>
          </a:prstGeom>
          <a:noFill/>
          <a:ln w="25399">
            <a:solidFill>
              <a:srgbClr val="BF9A6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235" y="2035671"/>
            <a:ext cx="323842" cy="323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8914" y="2696071"/>
            <a:ext cx="2514537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FE7D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Принцип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3428914" y="3245346"/>
            <a:ext cx="2514537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FE7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«Так правильно, даже если никто не увидит». Внутренний закон долга и верности собственным убеждениям.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248244" y="1848346"/>
            <a:ext cx="698483" cy="698500"/>
          </a:xfrm>
          <a:prstGeom prst="ellipse">
            <a:avLst/>
          </a:prstGeom>
          <a:noFill/>
          <a:ln w="25399">
            <a:solidFill>
              <a:srgbClr val="BF9A6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64" y="2035671"/>
            <a:ext cx="323842" cy="3238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8244" y="2696071"/>
            <a:ext cx="2514537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FE7D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Принадлежность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6248244" y="3610471"/>
            <a:ext cx="2514537" cy="2115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FE7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«Мы — люди, которые не проходят мимо». Разделяемая идентичность и нормы сообщества, к которому мы принадлежим.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9067573" y="1848346"/>
            <a:ext cx="698483" cy="698500"/>
          </a:xfrm>
          <a:prstGeom prst="ellipse">
            <a:avLst/>
          </a:prstGeom>
          <a:noFill/>
          <a:ln w="25399">
            <a:solidFill>
              <a:srgbClr val="BF9A6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893" y="2035671"/>
            <a:ext cx="323842" cy="3238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67573" y="2696071"/>
            <a:ext cx="2514537" cy="365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FE7D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Смысл</a:t>
            </a:r>
            <a:endParaRPr lang="en-US" sz="2300" dirty="0"/>
          </a:p>
        </p:txBody>
      </p:sp>
      <p:sp>
        <p:nvSpPr>
          <p:cNvPr id="18" name="Text 12"/>
          <p:cNvSpPr/>
          <p:nvPr/>
        </p:nvSpPr>
        <p:spPr>
          <a:xfrm>
            <a:off x="9067573" y="3245346"/>
            <a:ext cx="2514537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EFE7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«Мои действия меняют чью-то реальность». Желание оставить осязаемый след и повлиять на ход событий.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09585" y="6050359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A69C8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МОТИВЫ ПРОСОЦИАЛЬНОГО ВЫБОРА · ПСИХОЛОГИЧЕСКАЯ СТРУКТУРА ДЕЙСТВИЯ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609600"/>
            <a:ext cx="6095848" cy="907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550" b="1" spc="-18" kern="0" dirty="0">
                <a:solidFill>
                  <a:srgbClr val="EFE7D8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Какую роль играет детство в жизни человека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5486263" y="1767384"/>
            <a:ext cx="6095848" cy="1290042"/>
          </a:xfrm>
          <a:prstGeom prst="roundRect">
            <a:avLst>
              <a:gd name="adj" fmla="val 2492"/>
            </a:avLst>
          </a:prstGeom>
          <a:solidFill>
            <a:srgbClr val="1B1815"/>
          </a:solidFill>
          <a:ln/>
        </p:spPr>
      </p:sp>
      <p:sp>
        <p:nvSpPr>
          <p:cNvPr id="5" name="Text 2"/>
          <p:cNvSpPr/>
          <p:nvPr/>
        </p:nvSpPr>
        <p:spPr>
          <a:xfrm>
            <a:off x="5689458" y="1894384"/>
            <a:ext cx="5689458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FE7D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Первичные сценарии связи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689458" y="2438102"/>
            <a:ext cx="5689458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FE7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Ранний опыт формирует базовые модели доверия, заботы и меры ответственности за тех, кто рядом.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263" y="3209826"/>
            <a:ext cx="6095848" cy="1290042"/>
          </a:xfrm>
          <a:prstGeom prst="roundRect">
            <a:avLst>
              <a:gd name="adj" fmla="val 2492"/>
            </a:avLst>
          </a:prstGeom>
          <a:solidFill>
            <a:srgbClr val="1B1815"/>
          </a:solidFill>
          <a:ln/>
        </p:spPr>
      </p:sp>
      <p:sp>
        <p:nvSpPr>
          <p:cNvPr id="8" name="Text 5"/>
          <p:cNvSpPr/>
          <p:nvPr/>
        </p:nvSpPr>
        <p:spPr>
          <a:xfrm>
            <a:off x="5689458" y="3336826"/>
            <a:ext cx="5689458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FE7D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Пережитая уязвимость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689458" y="3880545"/>
            <a:ext cx="5689458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FE7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Опыт боли может вести к глухой закрытости и гиперконтролю — либо к обостренной чуткости к чужой беде.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263" y="4652268"/>
            <a:ext cx="6095848" cy="1290042"/>
          </a:xfrm>
          <a:prstGeom prst="roundRect">
            <a:avLst>
              <a:gd name="adj" fmla="val 2492"/>
            </a:avLst>
          </a:prstGeom>
          <a:solidFill>
            <a:srgbClr val="1B1815"/>
          </a:solidFill>
          <a:ln/>
        </p:spPr>
      </p:sp>
      <p:sp>
        <p:nvSpPr>
          <p:cNvPr id="11" name="Text 8"/>
          <p:cNvSpPr/>
          <p:nvPr/>
        </p:nvSpPr>
        <p:spPr>
          <a:xfrm>
            <a:off x="5689458" y="4779268"/>
            <a:ext cx="5689458" cy="36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EFE7D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Пластичность взрослого выбора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5689458" y="5322987"/>
            <a:ext cx="5689458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EFE7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Детские паттерны не являются приговором: человек способен осознавать и пересматривать унаследованные реакции.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263" y="6167438"/>
            <a:ext cx="6095848" cy="393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5" kern="0" dirty="0">
                <a:solidFill>
                  <a:srgbClr val="A69C8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ИССЛЕДОВАНИЯ РАЗВИТИЯ ПРОСОЦИАЛЬНОСТИ · NATURE HUMAN BEHAVIOUR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91299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EFE7D8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Почему люди отказываются от комфорта ради других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51000"/>
          <a:ext cx="9143771" cy="914400"/>
        </p:xfrm>
        <a:graphic>
          <a:graphicData uri="http://schemas.openxmlformats.org/drawingml/2006/table">
            <a:tbl>
              <a:tblPr/>
              <a:tblGrid>
                <a:gridCol w="1064339"/>
                <a:gridCol w="4848653"/>
              </a:tblGrid>
              <a:tr h="487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FE7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01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FE7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Чужая проблема становится личной.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9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FE7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02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FE7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Цена бездействия ощущается выше цены усилия.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19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FE7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03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FE7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Помощь возвращает чувство влияния и подтверждает образ себя: «я тот, кто действует».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92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FE7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04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FE7D8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В основе могут одновременно быть сострадание, смысл, принадлежность и самоуважение.</a:t>
                      </a:r>
                      <a:endParaRPr lang="en-US" sz="17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34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D0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328245"/>
            <a:ext cx="591299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A69C8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МЕХАНИЗМЫ АЛЬТРУИСТИЧЕСКОГО ДЕЙСТВИЯ · JOURNAL OF PERSONALITY AND SOCIAL PSYCHOLOGY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55" y="0"/>
            <a:ext cx="47548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0" spc="-120" kern="0" dirty="0">
                <a:solidFill>
                  <a:srgbClr val="EFE7D8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Спасибо за внимание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09585" y="3886200"/>
            <a:ext cx="1158211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EFE7D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Выбирать других — это не отказ от себя, а способ определить, кто мы есть.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6050359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0" dirty="0">
                <a:solidFill>
                  <a:srgbClr val="D9B47C"/>
                </a:solidFill>
                <a:latin typeface="Noto Sans SemiBold" pitchFamily="34" charset="0"/>
                <a:ea typeface="Noto Sans SemiBold" pitchFamily="34" charset="-122"/>
                <a:cs typeface="Noto Sans SemiBold" pitchFamily="34" charset="-120"/>
              </a:rPr>
              <a:t>ВОПРОСЫ И ОТКРЫТАЯ ДИСКУССИЯ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2026-09-27T10:11:29Z</dcterms:created>
  <dcterms:modified xsi:type="dcterms:W3CDTF">2026-09-27T10:11:29Z</dcterms:modified>
</cp:coreProperties>
</file>